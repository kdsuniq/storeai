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d3d911cc834922" /><Relationship Type="http://schemas.openxmlformats.org/officeDocument/2006/relationships/extended-properties" Target="/docProps/app.xml" Id="Rf8c908c2998b43db" /><Relationship Type="http://schemas.openxmlformats.org/officeDocument/2006/relationships/officeDocument" Target="/ppt/presentation.xml" Id="R90d20171ccbd49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ff84efe7b24aad"/>
  </p:sldMasterIdLst>
  <p:notesMasterIdLst>
    <p:notesMasterId xmlns:r="http://schemas.openxmlformats.org/officeDocument/2006/relationships" r:id="R4b367694bbfb4cca"/>
  </p:notesMasterIdLst>
  <p:sldIdLst>
    <p:sldId xmlns:r="http://schemas.openxmlformats.org/officeDocument/2006/relationships" id="256" r:id="R0278bdb6d5734f12"/>
    <p:sldId xmlns:r="http://schemas.openxmlformats.org/officeDocument/2006/relationships" id="257" r:id="Raec7cdf9d2794f8e"/>
    <p:sldId xmlns:r="http://schemas.openxmlformats.org/officeDocument/2006/relationships" id="258" r:id="R64dcd02c040145c7"/>
    <p:sldId xmlns:r="http://schemas.openxmlformats.org/officeDocument/2006/relationships" id="259" r:id="R441914de73884ea4"/>
    <p:sldId xmlns:r="http://schemas.openxmlformats.org/officeDocument/2006/relationships" id="260" r:id="R9e26b5e865b14477"/>
    <p:sldId xmlns:r="http://schemas.openxmlformats.org/officeDocument/2006/relationships" id="261" r:id="Ra658653af7784e78"/>
    <p:sldId xmlns:r="http://schemas.openxmlformats.org/officeDocument/2006/relationships" id="262" r:id="R13e9ebe998ba47e1"/>
    <p:sldId xmlns:r="http://schemas.openxmlformats.org/officeDocument/2006/relationships" id="263" r:id="Rb84ba96056f64f54"/>
    <p:sldId xmlns:r="http://schemas.openxmlformats.org/officeDocument/2006/relationships" id="264" r:id="R0e6db104e1ea42b1"/>
    <p:sldId xmlns:r="http://schemas.openxmlformats.org/officeDocument/2006/relationships" id="265" r:id="Rcb2ce92431c7420d"/>
    <p:sldId xmlns:r="http://schemas.openxmlformats.org/officeDocument/2006/relationships" id="266" r:id="R0ddea9c299e842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e5996f1b744637" /><Relationship Type="http://schemas.openxmlformats.org/officeDocument/2006/relationships/slideMaster" Target="/ppt/slideMasters/slideMaster1.xml" Id="R1bff84efe7b24aad" /><Relationship Type="http://schemas.openxmlformats.org/officeDocument/2006/relationships/notesMaster" Target="/ppt/notesMasters/notesMaster1.xml" Id="R4b367694bbfb4cca" /><Relationship Type="http://schemas.openxmlformats.org/officeDocument/2006/relationships/presProps" Target="/ppt/presProps.xml" Id="Rf5279389e4414f40" /><Relationship Type="http://schemas.openxmlformats.org/officeDocument/2006/relationships/tableStyles" Target="/ppt/tableStyles.xml" Id="R5cdb60f7a4ce4e01" /><Relationship Type="http://schemas.openxmlformats.org/officeDocument/2006/relationships/slide" Target="/ppt/slides/slide1.xml" Id="R0278bdb6d5734f12" /><Relationship Type="http://schemas.openxmlformats.org/officeDocument/2006/relationships/slide" Target="/ppt/slides/slide2.xml" Id="Raec7cdf9d2794f8e" /><Relationship Type="http://schemas.openxmlformats.org/officeDocument/2006/relationships/slide" Target="/ppt/slides/slide3.xml" Id="R64dcd02c040145c7" /><Relationship Type="http://schemas.openxmlformats.org/officeDocument/2006/relationships/slide" Target="/ppt/slides/slide4.xml" Id="R441914de73884ea4" /><Relationship Type="http://schemas.openxmlformats.org/officeDocument/2006/relationships/slide" Target="/ppt/slides/slide5.xml" Id="R9e26b5e865b14477" /><Relationship Type="http://schemas.openxmlformats.org/officeDocument/2006/relationships/slide" Target="/ppt/slides/slide6.xml" Id="Ra658653af7784e78" /><Relationship Type="http://schemas.openxmlformats.org/officeDocument/2006/relationships/slide" Target="/ppt/slides/slide7.xml" Id="R13e9ebe998ba47e1" /><Relationship Type="http://schemas.openxmlformats.org/officeDocument/2006/relationships/slide" Target="/ppt/slides/slide8.xml" Id="Rb84ba96056f64f54" /><Relationship Type="http://schemas.openxmlformats.org/officeDocument/2006/relationships/slide" Target="/ppt/slides/slide9.xml" Id="R0e6db104e1ea42b1" /><Relationship Type="http://schemas.openxmlformats.org/officeDocument/2006/relationships/slide" Target="/ppt/slides/slide10.xml" Id="Rcb2ce92431c7420d" /><Relationship Type="http://schemas.openxmlformats.org/officeDocument/2006/relationships/slide" Target="/ppt/slides/slide11.xml" Id="R0ddea9c299e8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812ed985147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9f8fbe9fac4ef5" /><Relationship Type="http://schemas.openxmlformats.org/officeDocument/2006/relationships/notesMaster" Target="/ppt/notesMasters/notesMaster1.xml" Id="R821e093e2c5f40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c1b375f4c24deb" /><Relationship Type="http://schemas.openxmlformats.org/officeDocument/2006/relationships/notesMaster" Target="/ppt/notesMasters/notesMaster1.xml" Id="R89754af605304f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a70f4d71a741a1" /><Relationship Type="http://schemas.openxmlformats.org/officeDocument/2006/relationships/notesMaster" Target="/ppt/notesMasters/notesMaster1.xml" Id="Rd0810b2632bf42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43dab584f64480" /><Relationship Type="http://schemas.openxmlformats.org/officeDocument/2006/relationships/notesMaster" Target="/ppt/notesMasters/notesMaster1.xml" Id="R71fc6dc359c14f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1138da7c194358" /><Relationship Type="http://schemas.openxmlformats.org/officeDocument/2006/relationships/notesMaster" Target="/ppt/notesMasters/notesMaster1.xml" Id="R6f5b8f62a4c043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c4e9be289347bc" /><Relationship Type="http://schemas.openxmlformats.org/officeDocument/2006/relationships/notesMaster" Target="/ppt/notesMasters/notesMaster1.xml" Id="R4df06ac4948846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6d5877c1334b48" /><Relationship Type="http://schemas.openxmlformats.org/officeDocument/2006/relationships/notesMaster" Target="/ppt/notesMasters/notesMaster1.xml" Id="Rb3a1f933eb2844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07f46221f84654" /><Relationship Type="http://schemas.openxmlformats.org/officeDocument/2006/relationships/notesMaster" Target="/ppt/notesMasters/notesMaster1.xml" Id="Rb6e6b5c428c44d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427a6941e34de2" /><Relationship Type="http://schemas.openxmlformats.org/officeDocument/2006/relationships/notesMaster" Target="/ppt/notesMasters/notesMaster1.xml" Id="Rb9f0463294c240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d2631a10be44b1" /><Relationship Type="http://schemas.openxmlformats.org/officeDocument/2006/relationships/notesMaster" Target="/ppt/notesMasters/notesMaster1.xml" Id="Re435a4e7c36845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3ab42dee904850" /><Relationship Type="http://schemas.openxmlformats.org/officeDocument/2006/relationships/notesMaster" Target="/ppt/notesMasters/notesMaster1.xml" Id="R84e4ba410a8f47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0b2c4f4e945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1f5618b3464180" /><Relationship Type="http://schemas.openxmlformats.org/officeDocument/2006/relationships/slideLayout" Target="/ppt/slideLayouts/slideLayout1.xml" Id="R970a6d98693945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a6d98693945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18bc6e2a24f64" /><Relationship Type="http://schemas.openxmlformats.org/officeDocument/2006/relationships/notesSlide" Target="/ppt/notesSlides/notesSlide1.xml" Id="Rb7dfc078d86741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aacff14a74c76" /><Relationship Type="http://schemas.openxmlformats.org/officeDocument/2006/relationships/notesSlide" Target="/ppt/notesSlides/notesSlide2.xml" Id="R264320e4e39d45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59525ac32403a" /><Relationship Type="http://schemas.openxmlformats.org/officeDocument/2006/relationships/notesSlide" Target="/ppt/notesSlides/notesSlide3.xml" Id="R019fd2b9cd4946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fd9b3e5f947df" /><Relationship Type="http://schemas.openxmlformats.org/officeDocument/2006/relationships/notesSlide" Target="/ppt/notesSlides/notesSlide4.xml" Id="Rd72f30a0f98e49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60297238a481e" /><Relationship Type="http://schemas.openxmlformats.org/officeDocument/2006/relationships/notesSlide" Target="/ppt/notesSlides/notesSlide5.xml" Id="Rc94f18539d8144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6a1946af74268" /><Relationship Type="http://schemas.openxmlformats.org/officeDocument/2006/relationships/notesSlide" Target="/ppt/notesSlides/notesSlide6.xml" Id="Rf1ec1eee55eb4a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9bd5ec85c4a4a" /><Relationship Type="http://schemas.openxmlformats.org/officeDocument/2006/relationships/notesSlide" Target="/ppt/notesSlides/notesSlide7.xml" Id="R5566db2a50c044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94f1a858a44fe" /><Relationship Type="http://schemas.openxmlformats.org/officeDocument/2006/relationships/notesSlide" Target="/ppt/notesSlides/notesSlide8.xml" Id="R829334d8bb5f4a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53fd1c5554444" /><Relationship Type="http://schemas.openxmlformats.org/officeDocument/2006/relationships/notesSlide" Target="/ppt/notesSlides/notesSlide9.xml" Id="R30b68efe3bd44c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2d20571c24bf9" /><Relationship Type="http://schemas.openxmlformats.org/officeDocument/2006/relationships/notesSlide" Target="/ppt/notesSlides/notesSlide10.xml" Id="R77e9a72b20394d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befdfd6034835" /><Relationship Type="http://schemas.openxmlformats.org/officeDocument/2006/relationships/notesSlide" Target="/ppt/notesSlides/notesSlide11.xml" Id="R66a3df00de1840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FC03D-88D3-4351-BDFF-4D9C4949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5B168-3428-4F78-8191-46D153BE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E9F05-915E-4628-A2D2-B2928645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0D82E-2840-4FB3-8AC7-418141D6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E6048-027B-4337-8C21-2D23F12F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1E7BF-CEDA-4AFD-A29E-41F00F94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D814F-5114-43B0-ACB4-A44E0B8B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A8D8E-047F-4A63-ADC9-D2D02A09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E0E5E-A4EA-441B-A718-C33DCCDB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12FDC-CDE7-4FF5-B08D-CF70CB4B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3A6F6-EF81-455D-A556-37D9DA75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F6A64-F8C6-4A9C-B7A7-B5774F00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3F1AE-704A-487A-AAF6-8A4C7BAD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B66F4-502E-4FDF-AC6C-72535DEB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9D8B9-F9FB-4700-B61C-4EBBC54E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20EE5-FDCE-4A22-9458-B998D141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62EC8-A30F-4419-964B-5BE8ED41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038350" cy="323850"/>
          </a:xfrm>
          <a:prstGeom xmlns:a="http://schemas.openxmlformats.org/drawingml/2006/main" prst="roundRect">
            <a:avLst>
              <a:gd name="adj" fmla="val 35294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F6A3C-B4DE-4425-B4C7-5FF0C60F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43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DIPLOMA PROJECT / WEB 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D4B59-D6AA-4475-B150-8A24E8F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2F4F7"/>
                </a:solidFill>
              </a:defRPr>
            </a:pPr>
            <a:r>
              <a:rPr sz="4800" b="1">
                <a:solidFill>
                  <a:srgbClr val="F2F4F7"/>
                </a:solidFill>
              </a:rPr>
              <a:t>Store with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7A5EE-9916-4680-96CB-17F608F3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AA3AF"/>
                </a:solidFill>
              </a:defRPr>
            </a:pPr>
            <a:r>
              <a:rPr sz="1800" b="0">
                <a:solidFill>
                  <a:srgbClr val="9AA3AF"/>
                </a:solidFill>
              </a:rPr>
              <a:t>Маркетплейс с AI-помощником, кабинетами покупателя и продавца, заказами, оплатой, загрузкой фото и админ-панелью.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4A2F8-07A8-4E31-8B24-ECB5A2BF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EE67F-3327-4D8B-8B4C-38A74DF1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8D0A8"/>
                </a:solidFill>
              </a:defRPr>
            </a:pPr>
            <a:r>
              <a:rPr sz="3450" b="1">
                <a:solidFill>
                  <a:srgbClr val="58D0A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D2C46-3EF4-45E5-BD7B-9B263C63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роли: покупатель, продавец, админ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C10E6-CEBC-468C-BD26-D865001C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3364D-684F-4B32-A5BE-C2E6E09E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5B8FF"/>
                </a:solidFill>
              </a:defRPr>
            </a:pPr>
            <a:r>
              <a:rPr sz="3450" b="1">
                <a:solidFill>
                  <a:srgbClr val="75B8FF"/>
                </a:solidFill>
              </a:rPr>
              <a:t>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3A579D-5B95-4E0E-A37B-2A8A8D01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чат, описания, аналитика спроса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98837-79B8-4087-A000-B038E659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58D957-5943-418F-B841-E10EB225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43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D27A"/>
                </a:solidFill>
              </a:defRPr>
            </a:pPr>
            <a:r>
              <a:rPr sz="3450" b="1">
                <a:solidFill>
                  <a:srgbClr val="FFD27A"/>
                </a:solidFill>
              </a:rPr>
              <a:t>DevOps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B545C-13B1-44E9-80EC-680AF640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149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Docker, Kubernetes, Yandex Cloud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18975-92C8-4AB8-AF8A-8D60ADFE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2381250" cy="4476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3A43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927B02-F19F-4054-A8E2-AC7AA1E9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57300"/>
            <a:ext cx="1847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8D0A8"/>
                </a:solidFill>
              </a:defRPr>
            </a:pPr>
            <a:r>
              <a:rPr sz="2025" b="1">
                <a:solidFill>
                  <a:srgbClr val="58D0A8"/>
                </a:solidFill>
              </a:rPr>
              <a:t>React SPA</a:t>
            </a:r>
          </a:p>
          <a:p xmlns:a="http://schemas.openxmlformats.org/drawingml/2006/main">
            <a:pPr algn="l">
              <a:defRPr sz="2025" b="1">
                <a:solidFill>
                  <a:srgbClr val="58D0A8"/>
                </a:solidFill>
              </a:defRPr>
            </a:pPr>
            <a:r>
              <a:rPr sz="2025" b="1">
                <a:solidFill>
                  <a:srgbClr val="58D0A8"/>
                </a:solidFill>
              </a:rPr>
              <a:t>Django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D280BF-45C4-4303-8E7E-3DE7791E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1809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2F4F7"/>
                </a:solidFill>
              </a:defRPr>
            </a:pPr>
            <a:r>
              <a:rPr sz="1575" b="0">
                <a:solidFill>
                  <a:srgbClr val="F2F4F7"/>
                </a:solidFill>
              </a:rPr>
              <a:t>JWT авторизация</a:t>
            </a:r>
          </a:p>
          <a:p xmlns:a="http://schemas.openxmlformats.org/drawingml/2006/main">
            <a:pPr algn="l">
              <a:defRPr sz="1575" b="0">
                <a:solidFill>
                  <a:srgbClr val="F2F4F7"/>
                </a:solidFill>
              </a:defRPr>
            </a:pPr>
            <a:r>
              <a:rPr sz="1575" b="0">
                <a:solidFill>
                  <a:srgbClr val="F2F4F7"/>
                </a:solidFill>
              </a:rPr>
              <a:t>Email verification</a:t>
            </a:r>
          </a:p>
          <a:p xmlns:a="http://schemas.openxmlformats.org/drawingml/2006/main">
            <a:pPr algn="l">
              <a:defRPr sz="1575" b="0">
                <a:solidFill>
                  <a:srgbClr val="F2F4F7"/>
                </a:solidFill>
              </a:defRPr>
            </a:pPr>
            <a:r>
              <a:rPr sz="1575" b="0">
                <a:solidFill>
                  <a:srgbClr val="F2F4F7"/>
                </a:solidFill>
              </a:rPr>
              <a:t>Cart / Checkout</a:t>
            </a:r>
          </a:p>
          <a:p xmlns:a="http://schemas.openxmlformats.org/drawingml/2006/main">
            <a:pPr algn="l">
              <a:defRPr sz="1575" b="0">
                <a:solidFill>
                  <a:srgbClr val="F2F4F7"/>
                </a:solidFill>
              </a:defRPr>
            </a:pPr>
            <a:r>
              <a:rPr sz="1575" b="0">
                <a:solidFill>
                  <a:srgbClr val="F2F4F7"/>
                </a:solidFill>
              </a:rPr>
              <a:t>YooKassa mock</a:t>
            </a:r>
          </a:p>
          <a:p xmlns:a="http://schemas.openxmlformats.org/drawingml/2006/main">
            <a:pPr algn="l">
              <a:defRPr sz="1575" b="0">
                <a:solidFill>
                  <a:srgbClr val="F2F4F7"/>
                </a:solidFill>
              </a:defRPr>
            </a:pPr>
            <a:r>
              <a:rPr sz="1575" b="0">
                <a:solidFill>
                  <a:srgbClr val="F2F4F7"/>
                </a:solidFill>
              </a:rPr>
              <a:t>SPA Admin</a:t>
            </a:r>
          </a:p>
          <a:p xmlns:a="http://schemas.openxmlformats.org/drawingml/2006/main">
            <a:pPr algn="l">
              <a:defRPr sz="1575" b="0">
                <a:solidFill>
                  <a:srgbClr val="F2F4F7"/>
                </a:solidFill>
              </a:defRPr>
            </a:pPr>
            <a:r>
              <a:rPr sz="1575" b="0">
                <a:solidFill>
                  <a:srgbClr val="F2F4F7"/>
                </a:solidFill>
              </a:rPr>
              <a:t>Dark UI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72AA76-0FC9-4D85-AC8D-C07E8026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CC75A-28A0-416B-8906-F44115DE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116C06-64F5-4D2D-B5B3-CF7075F3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</p:spTree>
    <p:extLst>
      <p:ext uri="{BB962C8B-B14F-4D97-AF65-F5344CB8AC3E}">
        <p14:creationId xmlns:p14="http://schemas.microsoft.com/office/powerpoint/2010/main" val="1908925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5D56D2-3111-454B-9CDB-1752296B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93EFA-51B6-4150-BA9F-B2B0CB68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D9326-65BA-4032-AF5C-F3299081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80B0F-CB56-473E-B28B-25094D38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3CC7E-9468-4EC5-8D1A-922FCDDA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C7040-9EE3-4441-A3AA-EDF15BB3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9A4D9-607A-487A-ADC6-7333E083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A134D-77A7-45C5-A4E3-3FFD92C4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88AC4-EBA4-4B08-A877-818A4982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10384-AE02-4D52-9EA5-57C3BCBA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DF782-AB86-4AF3-A443-5279722E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51DD7-23C9-4876-A0AD-E95202E7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96C0B-B264-44AD-913B-F61FB6B2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70877-7BE9-499C-BFFE-2C16F73A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F512D-EA58-4B3E-8ED3-9EDECAEA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C1342-9F1E-4E58-AF1E-0C333651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08E96-A9FB-48F3-AF07-D8244462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14450" cy="304800"/>
          </a:xfrm>
          <a:prstGeom xmlns:a="http://schemas.openxmlformats.org/drawingml/2006/main" prst="roundRect">
            <a:avLst>
              <a:gd name="adj" fmla="val 37500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C750A-49FA-4B8F-83A7-8FB29D1B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STORE 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6C244-5C9B-4605-B207-9C29ABB7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4F7"/>
                </a:solidFill>
              </a:defRPr>
            </a:pPr>
            <a:r>
              <a:rPr sz="2700" b="1">
                <a:solidFill>
                  <a:srgbClr val="F2F4F7"/>
                </a:solidFill>
              </a:rPr>
              <a:t>Проблема и цель проекта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4B834F-6640-4EA5-AB2D-73B92C9F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3AF"/>
                </a:solidFill>
              </a:defRPr>
            </a:pPr>
            <a:r>
              <a:rPr sz="1350" b="0">
                <a:solidFill>
                  <a:srgbClr val="9AA3AF"/>
                </a:solidFill>
              </a:rPr>
              <a:t>Обычный каталог не закрывает задачи всех участников: покупателю нужен быстрый выбор, продавцу — управление, администратору — контроль.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E50B3-0E87-42BA-8395-2B15E0AE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F931B-C166-415D-BF34-90268ABF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CE82C-F295-4F23-A43A-351648AA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2280B-2233-466A-8699-740310CA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238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3D7E6-622F-41F8-BF1C-F3A06C8C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0A8"/>
          </a:solidFill>
          <a:ln xmlns:a="http://schemas.openxmlformats.org/drawingml/2006/main" w="0">
            <a:solidFill>
              <a:srgbClr val="58D0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98E3C-F5A0-40BD-9840-B811404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Покупатель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220757-A3C2-4226-B331-4626127C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Хочет быстро найти товар, понять наличие, оформить заказ и отслеживать статус без лишних действий.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FF8DF1-4D2D-4FD4-ADC4-00828DF6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38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E0C949-5F12-4CFA-99B1-3F87608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FF"/>
          </a:solidFill>
          <a:ln xmlns:a="http://schemas.openxmlformats.org/drawingml/2006/main" w="0">
            <a:solidFill>
              <a:srgbClr val="75B8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312D2-82E1-40D0-95CB-C77B9977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Продавец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53F127-BF59-4507-8B47-4AA5B35A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67050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Нужно публиковать товары, загружать фото, контролировать остатки, видеть входящие заказы и получать аналитику.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658B3E-F724-43CB-88D4-447ABFA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3238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E961A1-9E4F-4801-B352-FDA5DF97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FFD2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1C9C93-38FA-4C95-A3FE-80FF6994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Администратор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BF6CBD-FAD3-43B2-90D8-0F6D6D77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Нужен обзор пользователей, заказов, статусов, выручки, активности AI и состояния каталога.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E5C9BC-99E7-4345-8F5A-64382BE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986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F4F7"/>
                </a:solidFill>
              </a:defRPr>
            </a:pPr>
            <a:r>
              <a:rPr sz="1800" b="1">
                <a:solidFill>
                  <a:srgbClr val="F2F4F7"/>
                </a:solidFill>
              </a:rPr>
              <a:t>Цель: создать полнофункциональный маркетплейс, где бизнес-логика, интерфейс и AI-функции работают как единая система.</a:t>
            </a:r>
          </a:p>
        </p:txBody>
      </p:sp>
    </p:spTree>
    <p:extLst>
      <p:ext uri="{BB962C8B-B14F-4D97-AF65-F5344CB8AC3E}">
        <p14:creationId xmlns:p14="http://schemas.microsoft.com/office/powerpoint/2010/main" val="10308944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8A5DA0-A231-4116-8905-02D6BFA1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4D458-2286-4535-8D0E-F642B78D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3A1EF-52A3-471C-84BA-97AF8179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4BE4F-6515-4668-84E6-FC9BC357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EDA98-F6CC-4326-8302-78CDB904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2575E-A59A-42FE-B916-27803B0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2398E-EBC3-4087-8F7B-59E9450E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635FF-4495-4767-9CC7-3DF18581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0BCDA-7047-49E6-B2DE-D8F539BB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AE95B-B421-459F-A88F-CA32A849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34390-C72E-4E7E-88C6-0081802B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F02AA-AAF9-43E9-AC1D-9F5D576C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843DB-7FC6-4D56-B042-A535207B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2A5E0-F7CE-4223-8978-5EA097EE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F0A50-6F83-4328-A408-F9E4F202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47F67-0869-4968-A399-14126C93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DF0CF-89CA-4169-8590-BD5AF3F4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14450" cy="304800"/>
          </a:xfrm>
          <a:prstGeom xmlns:a="http://schemas.openxmlformats.org/drawingml/2006/main" prst="roundRect">
            <a:avLst>
              <a:gd name="adj" fmla="val 37500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89E86-0C4D-4783-9F55-17347B21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STORE 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C6C5D-6149-41EA-8089-178EC6B6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4F7"/>
                </a:solidFill>
              </a:defRPr>
            </a:pPr>
            <a:r>
              <a:rPr sz="2700" b="1">
                <a:solidFill>
                  <a:srgbClr val="F2F4F7"/>
                </a:solidFill>
              </a:rPr>
              <a:t>Роли и пользовательские сценарии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38B5B-D431-40B3-AB78-B741AD54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3AF"/>
                </a:solidFill>
              </a:defRPr>
            </a:pPr>
            <a:r>
              <a:rPr sz="1350" b="0">
                <a:solidFill>
                  <a:srgbClr val="9AA3AF"/>
                </a:solidFill>
              </a:rPr>
              <a:t>Система разделяет интерфейс и права доступа по ролям, а ключевые ограничения проверяются на backend.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5D84F-BA3A-44E1-82AA-FD291227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F1E76-B498-4DAD-A8EF-BC2C756C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EC871-5FD3-49AF-BEBE-EC603E9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54F380-B648-4842-920B-90F02220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B6947-851C-4722-B79B-BBBD075F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Покупатель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13F31-787C-4D29-8561-23919055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Каталог → корзина → оформление → оплата → мои заказы → повтор заказа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7198E-5E66-4899-9F74-BF4A9BD2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75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73F50D-27A0-43B5-8168-6A619A3A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Продавец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B0544B-5F4E-418C-A949-DE3E0D45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242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Категории → публикация товара → фото → остатки → входящие заказы → AI-аналитика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26FC6-33B7-4719-A345-C8F55816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FFD2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9AFB4D-0E73-4749-B67E-CD525D18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Администратор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C19E34-49EA-4F87-B25C-3CA79239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KPI → пользователи → заказы → статусы → Django Admin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5F9FE4-23FD-406B-8161-782AA7AF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3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88083A-4665-436B-9863-13EC5CA5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3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ACAC21-2687-4DDC-8004-E2EF10D6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AA3AF"/>
                </a:solidFill>
              </a:defRPr>
            </a:pPr>
            <a:r>
              <a:rPr sz="1650" b="0">
                <a:solidFill>
                  <a:srgbClr val="9AA3AF"/>
                </a:solidFill>
              </a:rPr>
              <a:t>Общий принцип: пользователь видит только те действия, которые соответствуют его роли, а API дополнительно защищает операции permissions-классами.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2102958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AC6B4F-E6D5-4AB2-9051-06EC8646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5777C-3ED4-4253-9CFC-59ACF6F5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AB20E-4137-4224-8795-F37CA102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525A9-D20A-4E82-9A26-EAAD7C1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81E40-3DE0-412E-AB4B-D8DF75D7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A6B51-C997-48EC-9729-39598416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E7666-60F8-4967-954E-92201742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5C800-9FB8-4A83-A495-BEC5F69A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49453-699F-4056-AD5E-6C186810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696C7-027E-4F21-BD2A-2CF902D9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FC724-AB94-4DE1-8A55-DF35DCC6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56C67-1641-4E15-AB8E-81189FC5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7BFA7-61E4-47AB-8FD0-5039C20C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354BB-BD4F-4EA0-824D-38B03E1D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61E1C-E87D-4170-843A-EB02797D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E4AD8-F2BF-4123-B6FB-38EF3AA3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F1204-C270-4081-88D6-101E9E4E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14450" cy="304800"/>
          </a:xfrm>
          <a:prstGeom xmlns:a="http://schemas.openxmlformats.org/drawingml/2006/main" prst="roundRect">
            <a:avLst>
              <a:gd name="adj" fmla="val 37500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C90D3-5854-4589-81E0-5D7DD8D3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STORE 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9DEA6-1506-4EE1-A472-6AAFB7EB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4F7"/>
                </a:solidFill>
              </a:defRPr>
            </a:pPr>
            <a:r>
              <a:rPr sz="2700" b="1">
                <a:solidFill>
                  <a:srgbClr val="F2F4F7"/>
                </a:solidFill>
              </a:rPr>
              <a:t>Архитектура решения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A6B34-D22E-45D4-97FF-5AE1029F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3AF"/>
                </a:solidFill>
              </a:defRPr>
            </a:pPr>
            <a:r>
              <a:rPr sz="1350" b="0">
                <a:solidFill>
                  <a:srgbClr val="9AA3AF"/>
                </a:solidFill>
              </a:rPr>
              <a:t>Проект разделён на независимые слои: SPA-интерфейс, REST API, доменная логика, AI-сервис и инфраструктура.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89939-7EDE-426D-91FD-824E0949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59A54-90D6-43E0-B044-690A9B27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A5080E-D3C2-40E1-9FDE-B95ACC90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772767-7667-4A4A-A179-6B02F0B0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81CBB-B609-40D8-A4ED-B977C39B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React / Vite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5B89E5-C92F-4E36-9882-F4C0523B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SPA: каталог, аккаунт, корзина, админка, тёмная тема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DA7308-6A20-4AAC-8967-572E1C73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75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311CE1-A3F5-467C-8F9F-7BEBB58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19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Django REST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CF2EE5-D69A-4590-BA17-01039F9B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ViewSets, APIView, JWT, Swagger, permissions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507099-2D58-4285-AF90-1A15285E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6700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FFD2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161E7-76BD-4CE2-8300-207AAF2E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19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Domain apps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5408C5-AFDD-4F36-B95C-626BF6D6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users, products, ai, payments, email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89AB38-B29E-4F6C-AF2A-FD6CDB7C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E2EE89-7390-4D79-B17A-36230C39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External services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3A0375-0E42-4929-AC1E-D0800F1E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OpenRouter, YooKassa/mock, SMTP console/prod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3B62EE-42D7-4EF4-B250-13DC06D0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81500"/>
            <a:ext cx="4457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75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AB5623-F1C0-4E90-AA93-8B874017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339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Deploy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52B512-CA8B-4586-9BED-624BAAF0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57750"/>
            <a:ext cx="411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Docker, nginx, Kubernetes, Yandex Cloud manifests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5C3013-EE6F-469F-AD5F-7B1CF532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8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3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1B9D12-D975-429A-B7C3-B321D9EC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3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C140B0-6F84-4C36-9EA9-FCC4FEB7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3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F7B9A9-DD7F-4517-A03A-D1F9B1AF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35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7404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981FCA-9B5B-457C-B680-18649235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99178-76B3-42D1-8A1E-291555B3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1CAB5-6479-4840-B05B-3C1F5B43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83AC8-918A-44A0-AE97-924F3360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5F2B9-263E-4BA7-9B6B-4A494712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64F63-DBA9-4B53-B783-3E4BBD6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F7C81-E51F-42C0-9704-7098998E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2FB92-934C-4BAA-B84D-71A28233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F98F2-E7D4-4E97-9123-1A41321B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79DAF-FB5C-4676-B51B-6FEE7B4D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54A13-5629-456B-81C3-6C99538B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76C5C-E3F4-4ECC-B4B2-BFE882D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6C3E8-AD6B-4388-A69C-7D6E4069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0FA3E-41F3-4960-8A8E-CAF45E47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0B18C-E5D5-490B-B176-79D2766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92BC7-E04F-4FFD-822F-34F1D026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D8922-0CC4-4217-9861-46CB5CA9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14450" cy="304800"/>
          </a:xfrm>
          <a:prstGeom xmlns:a="http://schemas.openxmlformats.org/drawingml/2006/main" prst="roundRect">
            <a:avLst>
              <a:gd name="adj" fmla="val 37500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DD305-1D2A-4095-AED3-AD2FE806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STORE 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0D4DA-1DA8-4594-ACBE-3A9FE3DC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4F7"/>
                </a:solidFill>
              </a:defRPr>
            </a:pPr>
            <a:r>
              <a:rPr sz="2700" b="1">
                <a:solidFill>
                  <a:srgbClr val="F2F4F7"/>
                </a:solidFill>
              </a:rPr>
              <a:t>Backend: доменная модель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A928B-1156-49F9-A816-C5F7CEB3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3AF"/>
                </a:solidFill>
              </a:defRPr>
            </a:pPr>
            <a:r>
              <a:rPr sz="1350" b="0">
                <a:solidFill>
                  <a:srgbClr val="9AA3AF"/>
                </a:solidFill>
              </a:rPr>
              <a:t>Django-модели отражают реальную структуру маркетплейса: пользователи, товары, корзина, заказы, платежи и AI-события.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A1F0E-DFEC-4E04-B127-F060B7DC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289F6-4116-4361-89DE-FDE16211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45ABC-9EE0-4FEE-BE9E-721B0291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7D0A8-1EDE-4150-9897-0149C701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CE72D4-F610-44AB-B961-74A47921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0A8"/>
          </a:solidFill>
          <a:ln xmlns:a="http://schemas.openxmlformats.org/drawingml/2006/main" w="0">
            <a:solidFill>
              <a:srgbClr val="58D0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DED88-33A7-49B1-A62B-45583766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UserProfile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BE410B-6F92-4646-A385-7B055569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роль, магазин, email_verified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264BAC-7A75-4EC9-8BA2-C85822DF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B78335-A598-475E-BE43-BCF67A16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FF"/>
          </a:solidFill>
          <a:ln xmlns:a="http://schemas.openxmlformats.org/drawingml/2006/main" w="0">
            <a:solidFill>
              <a:srgbClr val="75B8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AB0F70-809F-4C54-B822-3ECA551E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Product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765077-8B8B-45C7-8557-C3566B2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99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цена, категория, specs, фото, stock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29AC23-9FEF-4051-B775-F5A7085A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102258-0CFA-4365-9554-2FF0C4D5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0A8"/>
          </a:solidFill>
          <a:ln xmlns:a="http://schemas.openxmlformats.org/drawingml/2006/main" w="0">
            <a:solidFill>
              <a:srgbClr val="58D0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DDAFC4-B655-403C-A24F-480C19D5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CartItem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224E47-6A52-4438-964C-3E839B1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пользователь + товар + количество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67E019-B6AA-4404-B651-1FE368E9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736D31-34D2-4289-8559-268A56A2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FF"/>
          </a:solidFill>
          <a:ln xmlns:a="http://schemas.openxmlformats.org/drawingml/2006/main" w="0">
            <a:solidFill>
              <a:srgbClr val="75B8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612584-C3EE-4700-B54E-CC4E551D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Order / OrderItem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6DCFDD-186A-4243-90FD-ED224E58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адрес, статус, сумма, позиции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A84B02-5ED3-4E80-BCD2-28DEB50A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EBBC77-C1D3-4F06-B431-E779F4FB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0A8"/>
          </a:solidFill>
          <a:ln xmlns:a="http://schemas.openxmlformats.org/drawingml/2006/main" w="0">
            <a:solidFill>
              <a:srgbClr val="58D0A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945059-9A9F-43BE-94EF-950F6F12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Payment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3BD999-E3B2-4B36-ABCF-DA6FE94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339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external_id, статус, сумма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2C3A0F-8947-4CEE-A879-DBC038CA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6B03CE-7AA6-4B4E-B556-8DE49AE7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FF"/>
          </a:solidFill>
          <a:ln xmlns:a="http://schemas.openxmlformats.org/drawingml/2006/main" w="0">
            <a:solidFill>
              <a:srgbClr val="75B8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6E8548-02BC-44D1-A974-94589DF9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338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AIInteraction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59CC0D-863C-4CA5-8417-FA6FA883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запрос, ответ, feedback, review flag</a:t>
            </a:r>
          </a:p>
        </p:txBody>
      </p:sp>
    </p:spTree>
    <p:extLst>
      <p:ext uri="{BB962C8B-B14F-4D97-AF65-F5344CB8AC3E}">
        <p14:creationId xmlns:p14="http://schemas.microsoft.com/office/powerpoint/2010/main" val="1631399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2D253-18E7-405A-9141-64A4EC21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4BBED-94AB-4F1D-9E6E-E1666668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0DC2A-C7D3-45A3-B3DF-F00C269A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0DF29-3594-4CFE-A25C-0D187FB0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AD927-54F4-4F0C-8018-735DFE7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ACA42-9874-4CED-A3D6-5FFF8431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9EFCE-D75C-4876-9CC9-8324A851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D932D-BCD7-4F20-93CB-C1C3C38A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82359-2FD4-4453-8F7D-C6437A29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80B8F-971A-4B93-9469-FEE67CC7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44B17-38A8-4E4A-B257-1819F35F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5EC92-968F-4D48-9D6A-46138B71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6E9FB-FEBA-4899-849E-18BD2C4B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29C1C-D131-4E0E-A21F-C6A6175C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3ED21-5449-4579-9505-5FCF17CA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E56AC-C461-4E88-A08B-840EB693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EC85A-D08E-4C6E-8C34-634C224A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14450" cy="304800"/>
          </a:xfrm>
          <a:prstGeom xmlns:a="http://schemas.openxmlformats.org/drawingml/2006/main" prst="roundRect">
            <a:avLst>
              <a:gd name="adj" fmla="val 37500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F1282-6073-496D-A6F6-590CDCD1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STORE 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601BC-D112-451C-8199-303C0ED5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4F7"/>
                </a:solidFill>
              </a:defRPr>
            </a:pPr>
            <a:r>
              <a:rPr sz="2700" b="1">
                <a:solidFill>
                  <a:srgbClr val="F2F4F7"/>
                </a:solidFill>
              </a:rPr>
              <a:t>Покупательский сценарий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D8827-620F-49A1-A029-8D2EBB56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3AF"/>
                </a:solidFill>
              </a:defRPr>
            </a:pPr>
            <a:r>
              <a:rPr sz="1350" b="0">
                <a:solidFill>
                  <a:srgbClr val="9AA3AF"/>
                </a:solidFill>
              </a:rPr>
              <a:t>Путь пользователя построен вокруг быстрого выбора товара и прозрачного заказа.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92F68-1E98-4697-9B39-B5D4FF64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CB3E3-3AEA-404B-8D83-BD68C7A5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254E2-56B0-4C9A-A725-0DECE622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34ED4-1B30-467B-B909-15A06DDE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93035-0FF1-4F3F-84D6-5F72871A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8D0A8"/>
                </a:solidFill>
              </a:defRPr>
            </a:pPr>
            <a:r>
              <a:rPr sz="3450" b="1">
                <a:solidFill>
                  <a:srgbClr val="58D0A8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17E33-85EC-4A1A-AEEA-7E1118CC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Каталог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59284-F020-420B-BC17-8D581AF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AA3AF"/>
                </a:solidFill>
              </a:defRPr>
            </a:pPr>
            <a:r>
              <a:rPr sz="1200" b="0">
                <a:solidFill>
                  <a:srgbClr val="9AA3AF"/>
                </a:solidFill>
              </a:rPr>
              <a:t>поиск, категории, цена, сортировка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E1159-BC08-40D0-BFF3-23E73CB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33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3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81E807-FAF4-47BD-A034-A67DF7AE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B3B781-F910-44C8-87B8-2E1EE45C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52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5B8FF"/>
                </a:solidFill>
              </a:defRPr>
            </a:pPr>
            <a:r>
              <a:rPr sz="3450" b="1">
                <a:solidFill>
                  <a:srgbClr val="75B8F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C33492-C4D0-4DD2-9913-8761DCB9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242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Карточка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F0DC46-A6C0-4B8F-9FEF-BA595667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85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AA3AF"/>
                </a:solidFill>
              </a:defRPr>
            </a:pPr>
            <a:r>
              <a:rPr sz="1200" b="0">
                <a:solidFill>
                  <a:srgbClr val="9AA3AF"/>
                </a:solidFill>
              </a:rPr>
              <a:t>фото, цена, наличие, магазин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345262-0C5E-451F-BB97-59A7BDE0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3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1208E7-968B-4DC1-B2EB-0B172CDA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ACEEC5-A5C3-4ED3-97AA-F46647C7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52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5B8FF"/>
                </a:solidFill>
              </a:defRPr>
            </a:pPr>
            <a:r>
              <a:rPr sz="3450" b="1">
                <a:solidFill>
                  <a:srgbClr val="75B8FF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90ED45-A7A9-46DC-A7EA-87C179B5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242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Корзина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C89DC5-91C6-45B9-BDA2-0B930EF2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AA3AF"/>
                </a:solidFill>
              </a:defRPr>
            </a:pPr>
            <a:r>
              <a:rPr sz="1200" b="0">
                <a:solidFill>
                  <a:srgbClr val="9AA3AF"/>
                </a:solidFill>
              </a:rPr>
              <a:t>количество, итог, удаление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B6B1E3-8B22-417E-BC65-C6259FEF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3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0AF872-041D-409A-BC4D-E97671C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5B83D8-F46B-4B30-A5F1-F924E22D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52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5B8FF"/>
                </a:solidFill>
              </a:defRPr>
            </a:pPr>
            <a:r>
              <a:rPr sz="3450" b="1">
                <a:solidFill>
                  <a:srgbClr val="75B8FF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8D2859-20E1-430B-A16C-B1FAAAAA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242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Checkout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7A1A7F-8C70-48DD-9510-EC1BB7C4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AA3AF"/>
                </a:solidFill>
              </a:defRPr>
            </a:pPr>
            <a:r>
              <a:rPr sz="1200" b="0">
                <a:solidFill>
                  <a:srgbClr val="9AA3AF"/>
                </a:solidFill>
              </a:rPr>
              <a:t>контакты, адрес, комментарий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3C96C8-DF76-4C72-87EC-2E2FE8C0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35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F6A10E-21B2-40BA-B06F-19B5E82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CEED84-B048-4FF3-A45B-879538F8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527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5B8FF"/>
                </a:solidFill>
              </a:defRPr>
            </a:pPr>
            <a:r>
              <a:rPr sz="3450" b="1">
                <a:solidFill>
                  <a:srgbClr val="75B8FF"/>
                </a:solidFill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D3B3BE-2A0A-455F-BA95-1B650EB3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242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Заказы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DBEF5B-836A-4594-B913-A0DDFA4E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38550"/>
            <a:ext cx="163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AA3AF"/>
                </a:solidFill>
              </a:defRPr>
            </a:pPr>
            <a:r>
              <a:rPr sz="1200" b="0">
                <a:solidFill>
                  <a:srgbClr val="9AA3AF"/>
                </a:solidFill>
              </a:rPr>
              <a:t>статус и повтор заказа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ED696C-A092-4EA5-8236-0FB16935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2F4F7"/>
                </a:solidFill>
              </a:defRPr>
            </a:pPr>
            <a:r>
              <a:rPr sz="1650" b="0">
                <a:solidFill>
                  <a:srgbClr val="F2F4F7"/>
                </a:solidFill>
              </a:rPr>
              <a:t>Сервер дополнительно проверяет остатки при добавлении в корзину и оформлении заказа, поэтому нельзя купить больше, чем есть на складе.</a:t>
            </a:r>
          </a:p>
        </p:txBody>
      </p:sp>
    </p:spTree>
    <p:extLst>
      <p:ext uri="{BB962C8B-B14F-4D97-AF65-F5344CB8AC3E}">
        <p14:creationId xmlns:p14="http://schemas.microsoft.com/office/powerpoint/2010/main" val="11080885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62F808-CE9A-4830-BAF1-3D82E96A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B00E0-BDF8-4855-90FF-ABFDBE88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47F2A-4DDE-4B49-8D12-5970C608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B3E9F-A1D2-4A1B-A4A5-3FCFDDF0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6DFE9-136F-4C60-9621-67BD19B2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FEBE2-2756-405B-94FC-94A09DC4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E92B8-2BF0-4229-9A6E-64EE37A8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D620D-759D-4B44-8A49-E1EA9878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1682E-C604-4288-A9F7-30A023F0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67C7D-C29A-421F-A586-14CFA8EA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2EDC6-F4D7-41B1-B870-62078BAB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83DC0-057F-411D-8475-18E60F10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4A48E-0E12-43D5-9A4A-B2E9AB23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E06BC-8422-4E2E-9197-117DA740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00BCB-AC35-4852-879D-EDC62C49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8280A-4A31-4A07-807D-5FC34C00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21BF9-BA28-4E3A-9813-4BC25FB9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14450" cy="304800"/>
          </a:xfrm>
          <a:prstGeom xmlns:a="http://schemas.openxmlformats.org/drawingml/2006/main" prst="roundRect">
            <a:avLst>
              <a:gd name="adj" fmla="val 37500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DA35E-B15A-4601-BF0D-2759AA9A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STORE 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6F4F2-E912-4527-A659-3EA55C61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4F7"/>
                </a:solidFill>
              </a:defRPr>
            </a:pPr>
            <a:r>
              <a:rPr sz="2700" b="1">
                <a:solidFill>
                  <a:srgbClr val="F2F4F7"/>
                </a:solidFill>
              </a:rPr>
              <a:t>Кабинет продавца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359E4-0D0D-48C9-9832-9D75841C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3AF"/>
                </a:solidFill>
              </a:defRPr>
            </a:pPr>
            <a:r>
              <a:rPr sz="1350" b="0">
                <a:solidFill>
                  <a:srgbClr val="9AA3AF"/>
                </a:solidFill>
              </a:rPr>
              <a:t>Продавец управляет витриной и заказами в одном рабочем месте.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CE144-66D4-45E2-BEE0-F13DDE17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F6FB4-4E8D-4F4E-AA01-36B3CE3E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C3234-92E7-4471-94AC-A214905B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94DE6-3768-4BF4-B8C3-93E2DBD4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14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510FF-21F1-4008-B9A5-7E2F4E16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0A8"/>
          </a:solidFill>
          <a:ln xmlns:a="http://schemas.openxmlformats.org/drawingml/2006/main" w="0">
            <a:solidFill>
              <a:srgbClr val="58D0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E5E10-0FBA-484A-82C2-28ACFDB5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Публикация товара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1BC96-621A-4CCC-8E39-4933468A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Название, цена, категория, характеристики, описание, остаток и порог низкого остатка.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B0549-12CE-4CFB-9055-94B2245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3314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4AC21-66B1-4D49-B314-93036571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FF"/>
          </a:solidFill>
          <a:ln xmlns:a="http://schemas.openxmlformats.org/drawingml/2006/main" w="0">
            <a:solidFill>
              <a:srgbClr val="75B8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D02E80-2EE3-4467-98F4-AFA19BB9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Фото товара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0E02FA-9A4C-4B60-BAE8-A14EC028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Загрузка изображения через FormData, preview на frontend и хранение файла в media/products/.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2E3A21-5CF6-44D2-9858-33C129C1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314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4D6A37-6411-4B10-8CF0-33F97F79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FFD2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65858-0A24-4FF2-83B3-7972168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Операции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A18531-6B76-48A0-8BDE-1B30C9B7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Редактирование цены и остатка, входящие заказы, смена статуса, AI-анализ спроса.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52E1AD-ED3E-4E4F-A70B-C357CF32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148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45E655-71B1-46E1-A7CC-04A25211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D27A"/>
                </a:solidFill>
              </a:defRPr>
            </a:pPr>
            <a:r>
              <a:rPr sz="3450" b="1">
                <a:solidFill>
                  <a:srgbClr val="FFD27A"/>
                </a:solidFill>
              </a:rPr>
              <a:t>Stock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040D93-2623-4317-BBC4-F51AB0F3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578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низкий остаток и sold out видны в интерфейсе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14356B-B058-4EDF-9282-DAD16338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148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AF84EA-7C77-441A-9D83-F564E5BE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86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8D0A8"/>
                </a:solidFill>
              </a:defRPr>
            </a:pPr>
            <a:r>
              <a:rPr sz="3450" b="1">
                <a:solidFill>
                  <a:srgbClr val="58D0A8"/>
                </a:solidFill>
              </a:rPr>
              <a:t>AI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D0A763-7E40-4077-B648-658A4050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578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генерация описаний ускоряет заполнение карточек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B033D3-4855-4782-A9F8-BCF73A35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DA2385-67BD-49E2-BF04-0F3FECB2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86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5B8FF"/>
                </a:solidFill>
              </a:defRPr>
            </a:pPr>
            <a:r>
              <a:rPr sz="3450" b="1">
                <a:solidFill>
                  <a:srgbClr val="75B8FF"/>
                </a:solidFill>
              </a:rPr>
              <a:t>Orders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EFECDD-5486-4CAB-94DA-08983C2C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578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продавец видит заказы со своими товарами</a:t>
            </a:r>
          </a:p>
        </p:txBody>
      </p:sp>
    </p:spTree>
    <p:extLst>
      <p:ext uri="{BB962C8B-B14F-4D97-AF65-F5344CB8AC3E}">
        <p14:creationId xmlns:p14="http://schemas.microsoft.com/office/powerpoint/2010/main" val="709859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5A241A-BE01-4B86-B639-B07D4E8A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42FD9-CEEE-407C-9A6D-856BDDA8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64C80-0AC2-4C8A-A9B6-DA019728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041DF-4050-4853-90D2-559E9903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F2D92-16E6-452E-9954-2FA6AB4D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0334E-30CE-42C7-9FEE-D5E6F75D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9C1C3-0541-460B-9A56-08482167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D0F01-6164-4FA0-9AD0-F7DC4889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05C9E-4168-4345-98CC-91EF32E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35E06-12DD-4501-80D0-15356DA9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60AA1-AD97-467D-8F65-0945C4D5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ABC31-8137-4CBB-A2A9-F9011807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610AE-83B7-45E3-BA51-4F61BA50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90679-18C5-44CA-A44E-2A41915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9CF8F-6C8A-4EC3-A0E9-20E448E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6F38A-C00E-4539-BABB-0C795F9C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F92A6-B07B-4C33-8689-B126ECD6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14450" cy="304800"/>
          </a:xfrm>
          <a:prstGeom xmlns:a="http://schemas.openxmlformats.org/drawingml/2006/main" prst="roundRect">
            <a:avLst>
              <a:gd name="adj" fmla="val 37500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A2447-04B4-4A00-9D14-4E8977DF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STORE 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6F29D-03C8-4DF8-BBC5-7DC27BF6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4F7"/>
                </a:solidFill>
              </a:defRPr>
            </a:pPr>
            <a:r>
              <a:rPr sz="2700" b="1">
                <a:solidFill>
                  <a:srgbClr val="F2F4F7"/>
                </a:solidFill>
              </a:rPr>
              <a:t>AI-слой проекта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54552-0B2F-4796-9436-244EC146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3AF"/>
                </a:solidFill>
              </a:defRPr>
            </a:pPr>
            <a:r>
              <a:rPr sz="1350" b="0">
                <a:solidFill>
                  <a:srgbClr val="9AA3AF"/>
                </a:solidFill>
              </a:rPr>
              <a:t>AI не заменяет бизнес-логику, а усиливает пользовательские сценарии и помогает продавцу.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2EA86-4963-46B6-8491-FABED2C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42D66-78E6-475A-A139-59ED3360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B16C6-AE36-43B7-A823-4D423F50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61688-815E-4D63-A45C-802CDE8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381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EEE35F-A2CD-47C3-BEAD-792E701F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AI Chat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C01EC-C9FC-4655-8802-0A96191D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ответы на вопросы и подбор товаров по смыслу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B2F03-284A-4981-99C0-EE73C22A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76500"/>
            <a:ext cx="2381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75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823C1-9D92-486F-9506-4974BB12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Description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3DFF8A-EBAD-4360-A599-82EB6798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генерация описания товара по названию, категории и specs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21D6A5-C4A2-4DA3-AE93-152AC4F1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23812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FFD2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F04D9C-2213-4819-A75C-28F1D3F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Insights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F616F-39E7-42CD-939C-35F3A45F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аналитика спроса, корзин и остатков для продавца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E9EC4B-E8A4-4E3B-BFF2-32DC8E3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1866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FFF212-C621-4BED-A5AE-F017BD0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4F7"/>
                </a:solidFill>
              </a:defRPr>
            </a:pPr>
            <a:r>
              <a:rPr sz="1500" b="1">
                <a:solidFill>
                  <a:srgbClr val="F2F4F7"/>
                </a:solidFill>
              </a:rPr>
              <a:t>Fallback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032172-9B82-41CB-8DE1-09379C04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3AF"/>
                </a:solidFill>
              </a:defRPr>
            </a:pPr>
            <a:r>
              <a:rPr sz="1050" b="0">
                <a:solidFill>
                  <a:srgbClr val="9AA3AF"/>
                </a:solidFill>
              </a:rPr>
              <a:t>при отсутствии API-ключа приложение возвращает базовый ответ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7AB39C-4BD8-4F09-8438-E4DE4497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AA3AF"/>
                </a:solidFill>
              </a:defRPr>
            </a:pPr>
            <a:r>
              <a:rPr sz="1650" b="0">
                <a:solidFill>
                  <a:srgbClr val="9AA3AF"/>
                </a:solidFill>
              </a:rPr>
              <a:t>OpenRouter API подключается через переменные окружения. Результаты сохраняются как AIInteraction, что позволяет хранить историю, feedback и признаки для ревью промптов.</a:t>
            </a:r>
          </a:p>
        </p:txBody>
      </p:sp>
    </p:spTree>
    <p:extLst>
      <p:ext uri="{BB962C8B-B14F-4D97-AF65-F5344CB8AC3E}">
        <p14:creationId xmlns:p14="http://schemas.microsoft.com/office/powerpoint/2010/main" val="309758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B88D03-CBD7-4CFF-B678-E9918336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BAFFC-FDA6-43DB-9DFA-4DDD53F7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A9ED0-1CD8-42C1-9DF5-F8958320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7C16B-F953-49EF-9B5E-38FD79D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EC208-45EA-4AD3-89F9-9A8942F0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30027-50BF-443A-BEA2-B0DEA0FE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89CB7-F793-4C8B-84C5-0B1810CB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2454F-258D-4E27-AF3E-8D5539AC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E6FEC-17F0-4186-87C1-D7CC4F0A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3DFF5-919E-4AFB-8EE9-DFCB66F1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38DD1-86C9-4F4D-AE26-57CC6D2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10314-3E59-488F-8472-342357E4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7537F-3F66-4C4F-9F2B-CE05C0E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150E0-0411-414D-9C02-30A14C75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52290-4F15-4804-B4E5-5A1A004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A2F5E-BA28-4297-A215-141CBF12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EDB76-A366-425C-966A-A14DEC8E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14450" cy="304800"/>
          </a:xfrm>
          <a:prstGeom xmlns:a="http://schemas.openxmlformats.org/drawingml/2006/main" prst="roundRect">
            <a:avLst>
              <a:gd name="adj" fmla="val 37500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841A2-840A-42E6-B97F-1DD4860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STORE 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68329-A686-4E39-8CC8-4534DDCF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4F7"/>
                </a:solidFill>
              </a:defRPr>
            </a:pPr>
            <a:r>
              <a:rPr sz="2700" b="1">
                <a:solidFill>
                  <a:srgbClr val="F2F4F7"/>
                </a:solidFill>
              </a:rPr>
              <a:t>Админка и операционный контроль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C9728-29E0-4CA3-9ACC-F9250EDB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3AF"/>
                </a:solidFill>
              </a:defRPr>
            </a:pPr>
            <a:r>
              <a:rPr sz="1350" b="0">
                <a:solidFill>
                  <a:srgbClr val="9AA3AF"/>
                </a:solidFill>
              </a:rPr>
              <a:t>Для администратора сделана отдельная SPA-панель поверх API и сохранён стандартный Django Admin.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26B483-DE45-49C6-81AC-AF3C2558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09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C1A18-5919-4CD2-99C2-9D1A606D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CCBA1-A423-47BB-AAB0-B3214566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7F7C49-58BF-4287-8391-CEBEE8F6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3622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DF5B82-B724-4EFA-927F-D50E2474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8D0A8"/>
                </a:solidFill>
              </a:defRPr>
            </a:pPr>
            <a:r>
              <a:rPr sz="3450" b="1">
                <a:solidFill>
                  <a:srgbClr val="58D0A8"/>
                </a:solidFill>
              </a:rPr>
              <a:t>KPI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885FB-2EE0-49F7-9678-8FAED4C2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пользователи, продавцы, товары, заказы, выручка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51751-6F87-458C-98C2-D1065554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3622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6DDB4-7AA4-4ED3-8531-9F04B9E5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479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5B8FF"/>
                </a:solidFill>
              </a:defRPr>
            </a:pPr>
            <a:r>
              <a:rPr sz="3450" b="1">
                <a:solidFill>
                  <a:srgbClr val="75B8FF"/>
                </a:solidFill>
              </a:rPr>
              <a:t>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A8958-F920-4ED8-B9CD-CEAF6679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194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воронка заказов: new, paid, shipped, done, canceled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D32B7-319C-4E98-AEC5-967C4265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23622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9DCE62-1DFB-45BC-80C6-46888FC9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D27A"/>
                </a:solidFill>
              </a:defRPr>
            </a:pPr>
            <a:r>
              <a:rPr sz="3450" b="1">
                <a:solidFill>
                  <a:srgbClr val="FFD27A"/>
                </a:solidFill>
              </a:rPr>
              <a:t>Users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09D95B-DD68-4347-ABB8-621A432F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поиск, роли, магазины, email verification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B1848-5227-4C28-9A14-63A9D62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3622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D222A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44B958-2D82-4B6D-BE93-53DE51D7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479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8D0A8"/>
                </a:solidFill>
              </a:defRPr>
            </a:pPr>
            <a:r>
              <a:rPr sz="3450" b="1">
                <a:solidFill>
                  <a:srgbClr val="58D0A8"/>
                </a:solidFill>
              </a:rPr>
              <a:t>AI log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324C14-83DA-49E4-892E-D14BF6EF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194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3AF"/>
                </a:solidFill>
              </a:defRPr>
            </a:pPr>
            <a:r>
              <a:rPr sz="1125" b="0">
                <a:solidFill>
                  <a:srgbClr val="9AA3AF"/>
                </a:solidFill>
              </a:rPr>
              <a:t>последние AI-запросы и активность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5FA45E-E7A7-444D-AD5A-B648B42B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52950"/>
            <a:ext cx="8610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855281-B253-440B-BBF9-11593F80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529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FF"/>
          </a:solidFill>
          <a:ln xmlns:a="http://schemas.openxmlformats.org/drawingml/2006/main" w="0">
            <a:solidFill>
              <a:srgbClr val="75B8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B6B15F-1A0F-44F9-8CFB-CBE20404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743450"/>
            <a:ext cx="815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Почему две админки?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B0B55F-2C76-4F54-ACC3-0B5084E0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43500"/>
            <a:ext cx="815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SPA-админка удобна для демонстрации и ежедневных операций. Django Admin остаётся инструментом низкоуровневого управления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218669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AEE4F3-CC21-41AD-8EDF-AB55E142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AE6F6-C455-4BB8-8AC3-D24C7358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FAA31-0CC6-418D-A14F-7BEB8E88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609F1-285F-4390-8D79-AB7A806D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B1071-3FF2-4E86-A267-13FDB620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B4DD2-3D66-4ADE-BF5F-3ACBA97F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ED4D4-531E-48B7-8CA9-CA77219D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7574C-459B-4DA3-AEAA-9FD435C5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CEE53-6413-4347-B204-020F337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FC737-4EF5-43B6-9049-A5399C84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FBF8A-C271-4E38-9878-DAEB1207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FF349-F6F9-4104-9449-DBF4B60C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6E692-A552-4A85-B3DD-45DF343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807FF-59BE-4CB2-A690-C003518A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D74E7-2116-4D91-98F4-58680AE1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518A5-40D8-4663-B48D-BDCEAD07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92328-DF55-463D-901B-1F9B97A7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14450" cy="304800"/>
          </a:xfrm>
          <a:prstGeom xmlns:a="http://schemas.openxmlformats.org/drawingml/2006/main" prst="roundRect">
            <a:avLst>
              <a:gd name="adj" fmla="val 37500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17BEA-AB0D-43F7-AE3E-B7205DE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STORE 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58895-B5B1-437E-AF11-94BC36FD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4F7"/>
                </a:solidFill>
              </a:defRPr>
            </a:pPr>
            <a:r>
              <a:rPr sz="2700" b="1">
                <a:solidFill>
                  <a:srgbClr val="F2F4F7"/>
                </a:solidFill>
              </a:rPr>
              <a:t>Безопасность, деплой и проверка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C0B67-D6A4-4BDB-9B53-91E64720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3AF"/>
                </a:solidFill>
              </a:defRPr>
            </a:pPr>
            <a:r>
              <a:rPr sz="1350" b="0">
                <a:solidFill>
                  <a:srgbClr val="9AA3AF"/>
                </a:solidFill>
              </a:rPr>
              <a:t>Ключевые ограничения реализованы на backend, а проект подготовлен к запуску вне локальной среды.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A81BA-0DD9-4FAF-91A0-37831E82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A36D3-49F5-4FC0-B45C-9526E279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57D6C-E7D2-4068-82D7-DD8DC53B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A0099-5361-47A2-ABF2-723029A9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0099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BF853-87FB-4C8A-BC71-9FC3C471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0A8"/>
          </a:solidFill>
          <a:ln xmlns:a="http://schemas.openxmlformats.org/drawingml/2006/main" w="0">
            <a:solidFill>
              <a:srgbClr val="58D0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75B17-0553-459F-9141-BD3CED22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Security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6DA0AB-90F5-4473-A938-9DC75BCF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552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JWT access/refresh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permissions по ролям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IsOwnerOrReadOnly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email verification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server-side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0B86FD-8F9F-4A20-B5A1-521069B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30099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89EE2-E1A0-4AC2-8273-951A05F0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FF"/>
          </a:solidFill>
          <a:ln xmlns:a="http://schemas.openxmlformats.org/drawingml/2006/main" w="0">
            <a:solidFill>
              <a:srgbClr val="75B8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867B2A-FC80-4688-9B7B-5873C3A8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670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Deployment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164FFA-8A57-4F72-836D-C552996B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67050"/>
            <a:ext cx="2552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Dockerfile backend/frontend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docker-compose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nginx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Kubernetes manifests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Yandex Cloud notes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F33A7B-FEC5-4E22-9F20-08DB2B07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30099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B8A292-30D3-4969-B464-9B11F002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FFD2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EFDDCF-38B9-411D-AFA2-462743B5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Testing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6887D0-3E27-4F3D-ABE5-1DC9EFAB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552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DRF API tests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frontend production build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py_compile checks</a:t>
            </a:r>
          </a:p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manual browser smoke</a:t>
            </a:r>
          </a:p>
        </p:txBody>
      </p:sp>
    </p:spTree>
    <p:extLst>
      <p:ext uri="{BB962C8B-B14F-4D97-AF65-F5344CB8AC3E}">
        <p14:creationId xmlns:p14="http://schemas.microsoft.com/office/powerpoint/2010/main" val="4757216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50A1D5-CC43-42FA-BBB3-113D8B61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0">
            <a:solidFill>
              <a:srgbClr val="0D0F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4CA95-385C-4739-BA07-76286088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476500"/>
            <a:ext cx="5905500" cy="59055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AB470-2001-4BE5-99D3-9162C22E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714500"/>
            <a:ext cx="5334000" cy="5334000"/>
          </a:xfrm>
          <a:prstGeom xmlns:a="http://schemas.openxmlformats.org/drawingml/2006/main" prst="arc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A3930-CFF6-4735-AAC6-4C00B07E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C1687-E5B2-4C03-9BC5-B7F2B7DD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73846-D916-4C18-AF6E-6FB04975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86F63-5A16-4C53-A109-B03879A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FAE24-D842-4561-8949-429A58E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D2978-6E77-4362-97F2-A550FBF6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083AD-0591-4B10-B501-5FD89A98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CA543-2506-40C6-99A1-F70CCE2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01F96-DA4B-442C-8099-BA6F1699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793BD-7174-491B-AA2E-76DC64F2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67DDA-5A34-45DB-A804-AF758162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B436C-ACF2-4C07-AED9-EB77DC36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441BF-7007-4616-8AA5-A4711811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914400"/>
            <a:ext cx="0" cy="514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00789-A451-4123-8BD0-FF28605A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14450" cy="304800"/>
          </a:xfrm>
          <a:prstGeom xmlns:a="http://schemas.openxmlformats.org/drawingml/2006/main" prst="roundRect">
            <a:avLst>
              <a:gd name="adj" fmla="val 37500"/>
            </a:avLst>
          </a:prstGeom>
          <a:ln xmlns:a="http://schemas.openxmlformats.org/drawingml/2006/main" w="9525">
            <a:solidFill>
              <a:srgbClr val="58D0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C4488-D90C-404F-BD80-C58362C0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D0A8"/>
                </a:solidFill>
              </a:defRPr>
            </a:pPr>
            <a:r>
              <a:rPr sz="975" b="1">
                <a:solidFill>
                  <a:srgbClr val="58D0A8"/>
                </a:solidFill>
              </a:rPr>
              <a:t>STORE WITH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2076B-CCF0-463E-B645-73359EE8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F4F7"/>
                </a:solidFill>
              </a:defRPr>
            </a:pPr>
            <a:r>
              <a:rPr sz="2700" b="1">
                <a:solidFill>
                  <a:srgbClr val="F2F4F7"/>
                </a:solidFill>
              </a:rPr>
              <a:t>Итог и развитие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D41E9-FFAC-472F-A7E7-6D5981D7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3AF"/>
                </a:solidFill>
              </a:defRPr>
            </a:pPr>
            <a:r>
              <a:rPr sz="1350" b="0">
                <a:solidFill>
                  <a:srgbClr val="9AA3AF"/>
                </a:solidFill>
              </a:rPr>
              <a:t>Store with AI демонстрирует полный цикл разработки web-приложения: модели, API, UI, AI, админка и инфраструктура.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EB988-62DA-43E0-9126-68AB11C4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3AF"/>
                </a:solidFill>
              </a:defRPr>
            </a:pPr>
            <a:r>
              <a:rPr sz="900" b="1">
                <a:solidFill>
                  <a:srgbClr val="9AA3AF"/>
                </a:solidFill>
              </a:rPr>
              <a:t>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79778-E688-41A1-BBC4-79E2126F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3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208CB-03A0-4B8F-9514-2FA4DAA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05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3AF"/>
                </a:solidFill>
              </a:defRPr>
            </a:pPr>
            <a:r>
              <a:rPr sz="900" b="0">
                <a:solidFill>
                  <a:srgbClr val="9AA3AF"/>
                </a:solidFill>
              </a:rPr>
              <a:t>Store with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116EE-040F-449A-B7DC-3E98E20D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552E5-8C2A-4315-85FA-4F526341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0A8"/>
          </a:solidFill>
          <a:ln xmlns:a="http://schemas.openxmlformats.org/drawingml/2006/main" w="0">
            <a:solidFill>
              <a:srgbClr val="58D0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E90313-C9B2-49BC-A1EC-4C69A874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Реализовано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0EFB2-2412-4D04-9147-E1839BBA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495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Каталог, корзина, checkout, заказы, роли, email, фото товаров, AI-помощник, админка, тёмный UI, Docker/K8s.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036AB8-470C-4494-ABE9-587DCAED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6191E"/>
          </a:solidFill>
          <a:ln xmlns:a="http://schemas.openxmlformats.org/drawingml/2006/main" w="9525">
            <a:solidFill>
              <a:srgbClr val="2A30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5C7B7-E1D5-46CB-9E7A-7B9FAC4D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FF"/>
          </a:solidFill>
          <a:ln xmlns:a="http://schemas.openxmlformats.org/drawingml/2006/main" w="0">
            <a:solidFill>
              <a:srgbClr val="75B8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AEBEE4-129C-41DC-BCCE-861A633E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4F7"/>
                </a:solidFill>
              </a:defRPr>
            </a:pPr>
            <a:r>
              <a:rPr sz="1650" b="1">
                <a:solidFill>
                  <a:srgbClr val="F2F4F7"/>
                </a:solidFill>
              </a:rPr>
              <a:t>Можно развить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4B4C21-E490-4A20-BFA0-F3501721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4495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3AF"/>
                </a:solidFill>
              </a:defRPr>
            </a:pPr>
            <a:r>
              <a:rPr sz="1275" b="0">
                <a:solidFill>
                  <a:srgbClr val="9AA3AF"/>
                </a:solidFill>
              </a:rPr>
              <a:t>Отзывы, избранное, несколько фото, промокоды, модерация, возвраты, уведомления, полноценная production-оплата.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648062-4E52-451B-A655-2563A700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02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F4F7"/>
                </a:solidFill>
              </a:defRPr>
            </a:pPr>
            <a:r>
              <a:rPr sz="1950" b="1">
                <a:solidFill>
                  <a:srgbClr val="F2F4F7"/>
                </a:solidFill>
              </a:rPr>
              <a:t>Главный результат: проект выглядит и работает как цельная e-commerce система, а не набор отдельных учебных функций.</a:t>
            </a:r>
          </a:p>
        </p:txBody>
      </p:sp>
    </p:spTree>
    <p:extLst>
      <p:ext uri="{BB962C8B-B14F-4D97-AF65-F5344CB8AC3E}">
        <p14:creationId xmlns:p14="http://schemas.microsoft.com/office/powerpoint/2010/main" val="626129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2026-06-17T11:27:50.7960000Z</dcterms:created>
  <dcterms:modified xsi:type="dcterms:W3CDTF">2026-06-17T11:27:50.7960000Z</dcterms:modified>
</coreProperties>
</file>